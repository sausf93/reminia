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Esto es Reminia. En vez de contaros qué hace, os lo voy a enseñar funcionando, con las mismas pantallas que verá vuestro equipo. Una frase para quedaros: la sesión se prepara en minutos, la app corrige y mide sola, y funciona aunque se caiga internet. Empecemos por el problema que conocéis mejor que 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Pensad en un martes cualquiera. La integradora ha llegado antes para fotocopiar y recortar fichas. Durante la sesión corrige a boli mientras intenta estar pendiente de diez personas que van a ritmos distintos. Y a fin de mes, cuando la familia pregunta si su madre mejora, la respuesta honesta es una impresión, no un dato. Ese desgaste es justo lo que venimos a quitaros.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os voy a decir que las plataformas de referencia del sector sean malas: hacen bien muchas cosas. Pero muchos centros las dejan por dos razones muy concretas: les salen caras y se les hacen cuesta arriba en el día a día. Justo ahí queremos estar: más ágil de manejar y más asequible, sin bajar el rigor ni un milímetro.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Reminia son tres piezas que trabajan juntas. La tablet de la maestra, la única con contraseña, monta y vigila la sesión. Las tablets de los mayores no piden nada: solo muestran su actividad. Y el panel web guarda la historia de cada persona. Detrás, nueve tipos de ejercicio y un banco de casi tres mil, todos con corrección automática.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día completo cabe en cinco pasos, y os los enseño uno a uno con pantallas reales. Fijaos en una cosa mientras avanzamos: lo que hay que decidir en el momento es mínimo. Casi todo el pensar queda hecho el día antes, con calma. La maestra llega y solo tiene que arrancar.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uno, y el corazón de todo: el plan de cada persona. Se monta en el panel sin prisa, marcando por ejemplo memoria, nivel medio, y cuántos ejercicios tendrá la sesión. A partir de ahí el motor rota el contenido solo, sin repetir. Y puede dejar preparada la de mañana. Al día siguiente ya no se elige nada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dos y tres, juntos porque duran segundos. La maestra abre la sala del día y las tablets de los participantes se despiertan mostrando los nombres. Le da la tablet a Juan, pulsa Juan, y arranca su plan. Sin contraseñas, sin teclear códigos delante del mayor. Y si hay dos grupos en paralelo con dos maestras, funcionan a la vez sin pisarse.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cuatro: juegan. Cada persona ve una sola actividad ocupando toda la pantalla, sin menús donde perderse. Trazar una figura, contar objetos, dar el cambio con monedas. Está pensado para el usuario más frágil, incluso con temblor o poca vista: nada que atrape y ningún mensaje de fracaso. Y mientras la persona simplemente juega, la app va corrigiendo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mientras ellos juegan, la maestra deja de correr de mesa en mesa. Tiene un tablero en vivo con una tarjeta por persona: trabajando, atascado, ayudado, terminado. Si alguien lleva un minuto sin tocar nada, un sonido suave se lo avisa. Ya no tiene que estar encima de todos: la app le dice exactamente dónde hace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cinco, y aquí está el rigor clínico. Cada intento nace sin valorar: no puntúa hasta que la profesional lo revisa, porque no tocar algo no es fallar. Medimos desempeño, nunca deterioro, y jamás usamos lenguaje de diagnóstico. Y las alertas comparan a cada persona consigo misma, no con el grupo: avisan de un cambio en su propia línea, que es lo que de verdad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una novedad de la que estoy orgulloso: los retos de ingenio, para quienes van sobrados y se aburren con la ficha básica. El barquero con el lobo y la cabra, las garrafas de agua, las ranas, la Torre de Hanói, el taquín, Mastermind. Se resuelven en grupo, discutiendo, con lápiz si hace falta. La tablet deja probar sin castigo y celebra cuando lo consiguen.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Dejadme un segundo con esta imagen. No es una pantalla más: es un grupo de personas mayores resolviendo un enigma entre todas, y la tablet celebrándolo a la vez. De ahí salen conversación, orgullo y ganas de volver mañana. Ese vínculo, ese buen rato compartido, es justo lo que una fotocopia nunca va a 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cosas que a dirección le quitan el sueño, resueltas. Una: si se cae el wifi, la sesión no se para; sigue y sincroniza cuando vuelve. Dos: RGPD de serie, los datos van pseudonimizados y protegidos por diseño. Y tres: las tablets no piden contraseñas pero tampoco guardan nada, así que si se pierde una, cortáis su acceso desde el panel en un toque.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Recapitulando lo que gana el centro. La integradora recupera horas cada semana, porque la sesión se prepara en minutos y ya no corrige a boli. Y la dirección, por fin, tiene una evolución real que enseñar a la familia: con datos, no con impresiones. En una frase: más tiempo con las personas y menos con el papeleo.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el precio es sencillo, sin sustos: desde ciento veinticinco euros al mes por centro, con el equipo entero incluido sin límite de usuarias, y solo tres euros más por persona activa cuando pasáis de treinta. Pero no os pido decidir hoy: os propongo un piloto gratis en uno de vuestros centros, para que lo veáis con vuestro equipo y vuestras personas. Si funciona como creo, hablamos de los cinco. ¿Lo montamos?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7A70"/>
        </a:solidFill>
      </p:bgPr>
    </p:bg>
    <p:spTree>
      <p:nvGrpSpPr>
        <p:cNvPr id="1" name=""/>
        <p:cNvGrpSpPr/>
        <p:nvPr/>
      </p:nvGrpSpPr>
      <p:grpSpPr>
        <a:xfrm>
          <a:off x="0" y="0"/>
          <a:ext cx="0" cy="0"/>
          <a:chOff x="0" y="0"/>
          <a:chExt cx="0" cy="0"/>
        </a:xfrm>
      </p:grpSpPr>
      <p:sp>
        <p:nvSpPr>
          <p:cNvPr id="2" name="Text 0"/>
          <p:cNvSpPr/>
          <p:nvPr/>
        </p:nvSpPr>
        <p:spPr>
          <a:xfrm>
            <a:off x="822960" y="1371600"/>
            <a:ext cx="6035040" cy="1097280"/>
          </a:xfrm>
          <a:prstGeom prst="rect">
            <a:avLst/>
          </a:prstGeom>
          <a:noFill/>
          <a:ln/>
        </p:spPr>
        <p:txBody>
          <a:bodyPr wrap="square" rtlCol="0" anchor="ctr"/>
          <a:lstStyle/>
          <a:p>
            <a:pPr indent="0" marL="0">
              <a:buNone/>
            </a:pPr>
            <a:r>
              <a:rPr lang="en-US" sz="5400" b="1" spc="200" kern="0" dirty="0">
                <a:solidFill>
                  <a:srgbClr val="FFFFFF"/>
                </a:solidFill>
                <a:latin typeface="Century Gothic" pitchFamily="34" charset="0"/>
                <a:ea typeface="Century Gothic" pitchFamily="34" charset="-122"/>
                <a:cs typeface="Century Gothic" pitchFamily="34" charset="-120"/>
              </a:rPr>
              <a:t>REMINIA</a:t>
            </a:r>
            <a:endParaRPr lang="en-US" sz="5400" dirty="0"/>
          </a:p>
        </p:txBody>
      </p:sp>
      <p:sp>
        <p:nvSpPr>
          <p:cNvPr id="3" name="Text 1"/>
          <p:cNvSpPr/>
          <p:nvPr/>
        </p:nvSpPr>
        <p:spPr>
          <a:xfrm>
            <a:off x="822960" y="2651760"/>
            <a:ext cx="6035040" cy="1463040"/>
          </a:xfrm>
          <a:prstGeom prst="rect">
            <a:avLst/>
          </a:prstGeom>
          <a:noFill/>
          <a:ln/>
        </p:spPr>
        <p:txBody>
          <a:bodyPr wrap="square" rtlCol="0" anchor="ctr"/>
          <a:lstStyle/>
          <a:p>
            <a:pPr indent="0" marL="0">
              <a:lnSpc>
                <a:spcPts val="3000"/>
              </a:lnSpc>
              <a:buNone/>
            </a:pPr>
            <a:r>
              <a:rPr lang="en-US" sz="2200" dirty="0">
                <a:solidFill>
                  <a:srgbClr val="E8F5F2"/>
                </a:solidFill>
              </a:rPr>
              <a:t>Se planifica en minutos, corrige y mide sola.</a:t>
            </a:r>
            <a:endParaRPr lang="en-US" sz="2200" dirty="0"/>
          </a:p>
        </p:txBody>
      </p:sp>
      <p:sp>
        <p:nvSpPr>
          <p:cNvPr id="4" name="Text 2"/>
          <p:cNvSpPr/>
          <p:nvPr/>
        </p:nvSpPr>
        <p:spPr>
          <a:xfrm>
            <a:off x="822960" y="4297680"/>
            <a:ext cx="6035040" cy="457200"/>
          </a:xfrm>
          <a:prstGeom prst="rect">
            <a:avLst/>
          </a:prstGeom>
          <a:noFill/>
          <a:ln/>
        </p:spPr>
        <p:txBody>
          <a:bodyPr wrap="square" rtlCol="0" anchor="ctr"/>
          <a:lstStyle/>
          <a:p>
            <a:pPr indent="0" marL="0">
              <a:buNone/>
            </a:pPr>
            <a:r>
              <a:rPr lang="en-US" sz="1600" dirty="0">
                <a:solidFill>
                  <a:srgbClr val="FFFFFF"/>
                </a:solidFill>
              </a:rPr>
              <a:t>•  Estimulación cognitiva en tablet</a:t>
            </a:r>
            <a:endParaRPr lang="en-US" sz="1600" dirty="0"/>
          </a:p>
        </p:txBody>
      </p:sp>
      <p:sp>
        <p:nvSpPr>
          <p:cNvPr id="5" name="Text 3"/>
          <p:cNvSpPr/>
          <p:nvPr/>
        </p:nvSpPr>
        <p:spPr>
          <a:xfrm>
            <a:off x="822960" y="4800600"/>
            <a:ext cx="6035040" cy="457200"/>
          </a:xfrm>
          <a:prstGeom prst="rect">
            <a:avLst/>
          </a:prstGeom>
          <a:noFill/>
          <a:ln/>
        </p:spPr>
        <p:txBody>
          <a:bodyPr wrap="square" rtlCol="0" anchor="ctr"/>
          <a:lstStyle/>
          <a:p>
            <a:pPr indent="0" marL="0">
              <a:buNone/>
            </a:pPr>
            <a:r>
              <a:rPr lang="en-US" sz="1600" dirty="0">
                <a:solidFill>
                  <a:srgbClr val="FFFFFF"/>
                </a:solidFill>
              </a:rPr>
              <a:t>•  Para centros de día</a:t>
            </a:r>
            <a:endParaRPr lang="en-US" sz="1600" dirty="0"/>
          </a:p>
        </p:txBody>
      </p:sp>
      <p:pic>
        <p:nvPicPr>
          <p:cNvPr id="6" name="Image 0" descr="preencoded.png">    </p:cNvPr>
          <p:cNvPicPr>
            <a:picLocks noChangeAspect="1"/>
          </p:cNvPicPr>
          <p:nvPr/>
        </p:nvPicPr>
        <p:blipFill>
          <a:blip r:embed="rId1"/>
          <a:srcRect l="0" r="0" t="0" b="0"/>
          <a:stretch/>
        </p:blipFill>
        <p:spPr>
          <a:xfrm>
            <a:off x="7040880" y="1005840"/>
            <a:ext cx="4572000" cy="4846320"/>
          </a:xfrm>
          <a:prstGeom prst="rect">
            <a:avLst/>
          </a:prstGeom>
          <a:effectLst>
            <a:outerShdw sx="100000" sy="100000" kx="0" ky="0" algn="bl" rotWithShape="0" blurRad="1524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El día a día del centro pesa</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Recortar fichas, corregir a mano y vigilar a todos agota.</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Horas recortando fichas</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Corrección una a una</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Nadie ve la evolución</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Tres iconos grandes (tijeras/fotocopia, lápiz corrigiendo, ojo cansado) sobre fondo neutro; una foto cálida de sala de centro de día si hay. Nada de párrafos.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Ágil y asequible frente al referente</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El referente frena justo donde más duele: el día a día.</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Caro</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Lento de operar</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Poco vivo en sesión</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Comparativa muy simple: a la izquierda 'lo de siempre' en gris; a la derecha 'Reminia' en color cálido. Solo tres filas de iconos, sin tabla densa.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Un solo login para todo el centro</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La maestra manda, las tablets solo juegan, el panel lo recuerda todo.</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Tablet maestra + participantes</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Panel web de seguimiento</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9 tipos, ~2.800 actividades</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Diagrama limpio de 3 piezas conectadas: tablet maestra -&gt; tablets participantes -&gt; panel web. Iconos grandes, flechas suaves. Al lado, tablet-actividades.png en pequeño.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Cinco pasos, y casi todo ya está hecho</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Preparar, abrir, repartir, jugar y revisar: eso es un día entero.</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1 Preparar</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2 Abrir sala</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3 Repartir</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Cinta horizontal de 5 pasos numerados con un icono cada uno; el primero resaltado. Es la diapo-índice que guía las 5 siguientes.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Paso 1 · Se piensa el lunes, sirve toda la semana</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Eliges dominio y nivel una vez; el motor rota los ejercicios solo.</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Por dominio y nivel</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Ejercicios por sesión</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Deja lista la de mañana</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Captura del editor de plan / panel (panel-movil-dashboard.png) con anotaciones de flecha señalando dominio y nivel. Marco de dispositivo.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Pasos 2 y 3 · Le das la tablet a Juan y arranca Juan</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Abre la sala, toca el nombre y la actividad empieza sola.</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Sin códigos cada vez</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Reparto por toque</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Dos grupos a la vez</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Dos capturas en secuencia: pantalla '¿Quién eres?' con nombres (kiosk-vida-1.png o similar) y una mano tocando un nombre. Flecha entre ambas.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Paso 4 · Juega, y jamás lee 'has fallado'</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Una actividad a pantalla completa, sin menús y sin prisa.</a:t>
            </a:r>
            <a:endParaRPr lang="en-US" sz="2000" dirty="0"/>
          </a:p>
        </p:txBody>
      </p:sp>
      <p:pic>
        <p:nvPicPr>
          <p:cNvPr id="6" name="Image 0" descr="preencoded.png">    </p:cNvPr>
          <p:cNvPicPr>
            <a:picLocks noChangeAspect="1"/>
          </p:cNvPicPr>
          <p:nvPr/>
        </p:nvPicPr>
        <p:blipFill>
          <a:blip r:embed="rId1"/>
          <a:srcRect l="0" r="0" t="0" b="0"/>
          <a:stretch/>
        </p:blipFill>
        <p:spPr>
          <a:xfrm>
            <a:off x="426568" y="2926080"/>
            <a:ext cx="3566160" cy="3291840"/>
          </a:xfrm>
          <a:prstGeom prst="rect">
            <a:avLst/>
          </a:prstGeom>
          <a:effectLst>
            <a:outerShdw sx="100000" sy="100000" kx="0" ky="0" algn="bl" rotWithShape="0" blurRad="101600" dist="38100" dir="5400000">
              <a:srgbClr val="203030">
                <a:alpha val="25000"/>
              </a:srgbClr>
            </a:outerShdw>
          </a:effectLst>
        </p:spPr>
      </p:pic>
      <p:pic>
        <p:nvPicPr>
          <p:cNvPr id="7" name="Image 1" descr="preencoded.png">    </p:cNvPr>
          <p:cNvPicPr>
            <a:picLocks noChangeAspect="1"/>
          </p:cNvPicPr>
          <p:nvPr/>
        </p:nvPicPr>
        <p:blipFill>
          <a:blip r:embed="rId2"/>
          <a:srcRect l="0" r="0" t="0" b="0"/>
          <a:stretch/>
        </p:blipFill>
        <p:spPr>
          <a:xfrm>
            <a:off x="4312768" y="2926080"/>
            <a:ext cx="3566160" cy="3291840"/>
          </a:xfrm>
          <a:prstGeom prst="rect">
            <a:avLst/>
          </a:prstGeom>
          <a:effectLst>
            <a:outerShdw sx="100000" sy="100000" kx="0" ky="0" algn="bl" rotWithShape="0" blurRad="101600" dist="38100" dir="5400000">
              <a:srgbClr val="203030">
                <a:alpha val="25000"/>
              </a:srgbClr>
            </a:outerShdw>
          </a:effectLst>
        </p:spPr>
      </p:pic>
      <p:pic>
        <p:nvPicPr>
          <p:cNvPr id="8" name="Image 2" descr="preencoded.png">    </p:cNvPr>
          <p:cNvPicPr>
            <a:picLocks noChangeAspect="1"/>
          </p:cNvPicPr>
          <p:nvPr/>
        </p:nvPicPr>
        <p:blipFill>
          <a:blip r:embed="rId3"/>
          <a:srcRect l="0" r="0" t="0" b="0"/>
          <a:stretch/>
        </p:blipFill>
        <p:spPr>
          <a:xfrm>
            <a:off x="8198968" y="2926080"/>
            <a:ext cx="3566160" cy="3291840"/>
          </a:xfrm>
          <a:prstGeom prst="rect">
            <a:avLst/>
          </a:prstGeom>
          <a:effectLst>
            <a:outerShdw sx="100000" sy="100000" kx="0" ky="0" algn="bl" rotWithShape="0" blurRad="101600" dist="38100" dir="5400000">
              <a:srgbClr val="203030">
                <a:alpha val="25000"/>
              </a:srgbClr>
            </a:outerShdw>
          </a:effectLst>
        </p:spPr>
      </p:pic>
      <p:sp>
        <p:nvSpPr>
          <p:cNvPr id="9" name="Text 4"/>
          <p:cNvSpPr/>
          <p:nvPr/>
        </p:nvSpPr>
        <p:spPr>
          <a:xfrm>
            <a:off x="914400" y="6263640"/>
            <a:ext cx="10332720" cy="457200"/>
          </a:xfrm>
          <a:prstGeom prst="rect">
            <a:avLst/>
          </a:prstGeom>
          <a:noFill/>
          <a:ln/>
        </p:spPr>
        <p:txBody>
          <a:bodyPr wrap="square" rtlCol="0" anchor="ctr"/>
          <a:lstStyle/>
          <a:p>
            <a:pPr algn="ctr" marL="342900" indent="-342900">
              <a:buSzPct val="100000"/>
              <a:buChar char="•"/>
            </a:pPr>
            <a:r>
              <a:rPr lang="en-US" sz="1500" dirty="0">
                <a:solidFill>
                  <a:srgbClr val="12312E"/>
                </a:solidFill>
              </a:rPr>
              <a:t>Un ejercicio cada vez</a:t>
            </a:r>
            <a:pPr algn="ctr" marL="342900" indent="-342900">
              <a:buSzPct val="100000"/>
              <a:buChar char="•"/>
            </a:pPr>
            <a:r>
              <a:rPr lang="en-US" sz="1500" dirty="0">
                <a:solidFill>
                  <a:srgbClr val="12312E"/>
                </a:solidFill>
              </a:rPr>
              <a:t>Nunca dice que falló</a:t>
            </a:r>
            <a:pPr algn="ctr" marL="342900" indent="-342900">
              <a:buSzPct val="100000"/>
              <a:buChar char="•"/>
            </a:pPr>
            <a:r>
              <a:rPr lang="en-US" sz="1500" dirty="0">
                <a:solidFill>
                  <a:srgbClr val="12312E"/>
                </a:solidFill>
              </a:rPr>
              <a:t>Botones grandes, alto contraste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Paso 4 · La app le dice dónde mirar</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Una tarjeta por persona: quién trabaja, quién se atascó, quién acabó.</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Aviso suave si se atasca</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Ayuda de un toque</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Sin vigilar a todos</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Captura del monitor en vivo (panel-movil-dashboard.png o tablet-actividades.png) con tarjetas de estado; resaltar una en 'atascado'.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Paso 5 · No tocar algo no es fallar</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Medimos desempeño, no deterioro, y nada puntúa sin revisión humana.</a:t>
            </a:r>
            <a:endParaRPr lang="en-US" sz="2000" dirty="0"/>
          </a:p>
        </p:txBody>
      </p:sp>
      <p:sp>
        <p:nvSpPr>
          <p:cNvPr id="6" name="Shape 4"/>
          <p:cNvSpPr/>
          <p:nvPr/>
        </p:nvSpPr>
        <p:spPr>
          <a:xfrm>
            <a:off x="914400" y="3063240"/>
            <a:ext cx="201168" cy="201168"/>
          </a:xfrm>
          <a:prstGeom prst="ellipse">
            <a:avLst/>
          </a:prstGeom>
          <a:solidFill>
            <a:srgbClr val="F08A6B"/>
          </a:solidFill>
          <a:ln/>
        </p:spPr>
      </p:sp>
      <p:sp>
        <p:nvSpPr>
          <p:cNvPr id="7" name="Text 5"/>
          <p:cNvSpPr/>
          <p:nvPr/>
        </p:nvSpPr>
        <p:spPr>
          <a:xfrm>
            <a:off x="1280160" y="2926080"/>
            <a:ext cx="4297680" cy="640080"/>
          </a:xfrm>
          <a:prstGeom prst="rect">
            <a:avLst/>
          </a:prstGeom>
          <a:noFill/>
          <a:ln/>
        </p:spPr>
        <p:txBody>
          <a:bodyPr wrap="square" rtlCol="0" anchor="ctr"/>
          <a:lstStyle/>
          <a:p>
            <a:pPr indent="0" marL="0">
              <a:buNone/>
            </a:pPr>
            <a:r>
              <a:rPr lang="en-US" sz="1700" b="1" dirty="0">
                <a:solidFill>
                  <a:srgbClr val="12312E"/>
                </a:solidFill>
              </a:rPr>
              <a:t>Nace 'sin valorar'</a:t>
            </a:r>
            <a:endParaRPr lang="en-US" sz="1700" dirty="0"/>
          </a:p>
        </p:txBody>
      </p:sp>
      <p:sp>
        <p:nvSpPr>
          <p:cNvPr id="8" name="Shape 6"/>
          <p:cNvSpPr/>
          <p:nvPr/>
        </p:nvSpPr>
        <p:spPr>
          <a:xfrm>
            <a:off x="914400" y="3931920"/>
            <a:ext cx="201168" cy="201168"/>
          </a:xfrm>
          <a:prstGeom prst="ellipse">
            <a:avLst/>
          </a:prstGeom>
          <a:solidFill>
            <a:srgbClr val="F08A6B"/>
          </a:solidFill>
          <a:ln/>
        </p:spPr>
      </p:sp>
      <p:sp>
        <p:nvSpPr>
          <p:cNvPr id="9" name="Text 7"/>
          <p:cNvSpPr/>
          <p:nvPr/>
        </p:nvSpPr>
        <p:spPr>
          <a:xfrm>
            <a:off x="1280160" y="3794760"/>
            <a:ext cx="4297680" cy="640080"/>
          </a:xfrm>
          <a:prstGeom prst="rect">
            <a:avLst/>
          </a:prstGeom>
          <a:noFill/>
          <a:ln/>
        </p:spPr>
        <p:txBody>
          <a:bodyPr wrap="square" rtlCol="0" anchor="ctr"/>
          <a:lstStyle/>
          <a:p>
            <a:pPr indent="0" marL="0">
              <a:buNone/>
            </a:pPr>
            <a:r>
              <a:rPr lang="en-US" sz="1700" b="1" dirty="0">
                <a:solidFill>
                  <a:srgbClr val="12312E"/>
                </a:solidFill>
              </a:rPr>
              <a:t>Logrado, parcial, no logrado</a:t>
            </a:r>
            <a:endParaRPr lang="en-US" sz="1700" dirty="0"/>
          </a:p>
        </p:txBody>
      </p:sp>
      <p:sp>
        <p:nvSpPr>
          <p:cNvPr id="10" name="Shape 8"/>
          <p:cNvSpPr/>
          <p:nvPr/>
        </p:nvSpPr>
        <p:spPr>
          <a:xfrm>
            <a:off x="914400" y="4800600"/>
            <a:ext cx="201168" cy="201168"/>
          </a:xfrm>
          <a:prstGeom prst="ellipse">
            <a:avLst/>
          </a:prstGeom>
          <a:solidFill>
            <a:srgbClr val="F08A6B"/>
          </a:solidFill>
          <a:ln/>
        </p:spPr>
      </p:sp>
      <p:sp>
        <p:nvSpPr>
          <p:cNvPr id="11" name="Text 9"/>
          <p:cNvSpPr/>
          <p:nvPr/>
        </p:nvSpPr>
        <p:spPr>
          <a:xfrm>
            <a:off x="1280160" y="4663440"/>
            <a:ext cx="4297680" cy="640080"/>
          </a:xfrm>
          <a:prstGeom prst="rect">
            <a:avLst/>
          </a:prstGeom>
          <a:noFill/>
          <a:ln/>
        </p:spPr>
        <p:txBody>
          <a:bodyPr wrap="square" rtlCol="0" anchor="ctr"/>
          <a:lstStyle/>
          <a:p>
            <a:pPr indent="0" marL="0">
              <a:buNone/>
            </a:pPr>
            <a:r>
              <a:rPr lang="en-US" sz="1700" b="1" dirty="0">
                <a:solidFill>
                  <a:srgbClr val="12312E"/>
                </a:solidFill>
              </a:rPr>
              <a:t>Se compara consigo misma</a:t>
            </a:r>
            <a:endParaRPr lang="en-US" sz="1700" dirty="0"/>
          </a:p>
        </p:txBody>
      </p:sp>
      <p:pic>
        <p:nvPicPr>
          <p:cNvPr id="12" name="Image 0" descr="preencoded.png">    </p:cNvPr>
          <p:cNvPicPr>
            <a:picLocks noChangeAspect="1"/>
          </p:cNvPicPr>
          <p:nvPr/>
        </p:nvPicPr>
        <p:blipFill>
          <a:blip r:embed="rId1"/>
          <a:srcRect l="0" r="0" t="0" b="0"/>
          <a:stretch/>
        </p:blipFill>
        <p:spPr>
          <a:xfrm>
            <a:off x="5852160" y="2743200"/>
            <a:ext cx="5760720" cy="3566160"/>
          </a:xfrm>
          <a:prstGeom prst="rect">
            <a:avLst/>
          </a:prstGeom>
          <a:effectLst>
            <a:outerShdw sx="100000" sy="100000" kx="0" ky="0" algn="bl" rotWithShape="0" blurRad="127000" dist="38100" dir="5400000">
              <a:srgbClr val="203030">
                <a:alpha val="2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Y para los que se aburren con lo fácil</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Retos de ingenio que se resuelven pensando juntos, en voz alta.</a:t>
            </a:r>
            <a:endParaRPr lang="en-US" sz="2000" dirty="0"/>
          </a:p>
        </p:txBody>
      </p:sp>
      <p:sp>
        <p:nvSpPr>
          <p:cNvPr id="6" name="Shape 4"/>
          <p:cNvSpPr/>
          <p:nvPr/>
        </p:nvSpPr>
        <p:spPr>
          <a:xfrm>
            <a:off x="914400" y="3063240"/>
            <a:ext cx="201168" cy="201168"/>
          </a:xfrm>
          <a:prstGeom prst="ellipse">
            <a:avLst/>
          </a:prstGeom>
          <a:solidFill>
            <a:srgbClr val="F08A6B"/>
          </a:solidFill>
          <a:ln/>
        </p:spPr>
      </p:sp>
      <p:sp>
        <p:nvSpPr>
          <p:cNvPr id="7" name="Text 5"/>
          <p:cNvSpPr/>
          <p:nvPr/>
        </p:nvSpPr>
        <p:spPr>
          <a:xfrm>
            <a:off x="1280160" y="2926080"/>
            <a:ext cx="4297680" cy="640080"/>
          </a:xfrm>
          <a:prstGeom prst="rect">
            <a:avLst/>
          </a:prstGeom>
          <a:noFill/>
          <a:ln/>
        </p:spPr>
        <p:txBody>
          <a:bodyPr wrap="square" rtlCol="0" anchor="ctr"/>
          <a:lstStyle/>
          <a:p>
            <a:pPr indent="0" marL="0">
              <a:buNone/>
            </a:pPr>
            <a:r>
              <a:rPr lang="en-US" sz="1700" b="1" dirty="0">
                <a:solidFill>
                  <a:srgbClr val="12312E"/>
                </a:solidFill>
              </a:rPr>
              <a:t>Garrafas, río, ranas</a:t>
            </a:r>
            <a:endParaRPr lang="en-US" sz="1700" dirty="0"/>
          </a:p>
        </p:txBody>
      </p:sp>
      <p:sp>
        <p:nvSpPr>
          <p:cNvPr id="8" name="Shape 6"/>
          <p:cNvSpPr/>
          <p:nvPr/>
        </p:nvSpPr>
        <p:spPr>
          <a:xfrm>
            <a:off x="914400" y="3931920"/>
            <a:ext cx="201168" cy="201168"/>
          </a:xfrm>
          <a:prstGeom prst="ellipse">
            <a:avLst/>
          </a:prstGeom>
          <a:solidFill>
            <a:srgbClr val="F08A6B"/>
          </a:solidFill>
          <a:ln/>
        </p:spPr>
      </p:sp>
      <p:sp>
        <p:nvSpPr>
          <p:cNvPr id="9" name="Text 7"/>
          <p:cNvSpPr/>
          <p:nvPr/>
        </p:nvSpPr>
        <p:spPr>
          <a:xfrm>
            <a:off x="1280160" y="3794760"/>
            <a:ext cx="4297680" cy="640080"/>
          </a:xfrm>
          <a:prstGeom prst="rect">
            <a:avLst/>
          </a:prstGeom>
          <a:noFill/>
          <a:ln/>
        </p:spPr>
        <p:txBody>
          <a:bodyPr wrap="square" rtlCol="0" anchor="ctr"/>
          <a:lstStyle/>
          <a:p>
            <a:pPr indent="0" marL="0">
              <a:buNone/>
            </a:pPr>
            <a:r>
              <a:rPr lang="en-US" sz="1700" b="1" dirty="0">
                <a:solidFill>
                  <a:srgbClr val="12312E"/>
                </a:solidFill>
              </a:rPr>
              <a:t>Hanói, taquín, Mastermind</a:t>
            </a:r>
            <a:endParaRPr lang="en-US" sz="1700" dirty="0"/>
          </a:p>
        </p:txBody>
      </p:sp>
      <p:sp>
        <p:nvSpPr>
          <p:cNvPr id="10" name="Shape 8"/>
          <p:cNvSpPr/>
          <p:nvPr/>
        </p:nvSpPr>
        <p:spPr>
          <a:xfrm>
            <a:off x="914400" y="4800600"/>
            <a:ext cx="201168" cy="201168"/>
          </a:xfrm>
          <a:prstGeom prst="ellipse">
            <a:avLst/>
          </a:prstGeom>
          <a:solidFill>
            <a:srgbClr val="F08A6B"/>
          </a:solidFill>
          <a:ln/>
        </p:spPr>
      </p:sp>
      <p:sp>
        <p:nvSpPr>
          <p:cNvPr id="11" name="Text 9"/>
          <p:cNvSpPr/>
          <p:nvPr/>
        </p:nvSpPr>
        <p:spPr>
          <a:xfrm>
            <a:off x="1280160" y="4663440"/>
            <a:ext cx="4297680" cy="640080"/>
          </a:xfrm>
          <a:prstGeom prst="rect">
            <a:avLst/>
          </a:prstGeom>
          <a:noFill/>
          <a:ln/>
        </p:spPr>
        <p:txBody>
          <a:bodyPr wrap="square" rtlCol="0" anchor="ctr"/>
          <a:lstStyle/>
          <a:p>
            <a:pPr indent="0" marL="0">
              <a:buNone/>
            </a:pPr>
            <a:r>
              <a:rPr lang="en-US" sz="1700" b="1" dirty="0">
                <a:solidFill>
                  <a:srgbClr val="12312E"/>
                </a:solidFill>
              </a:rPr>
              <a:t>En grupo, no puntúan</a:t>
            </a:r>
            <a:endParaRPr lang="en-US" sz="1700" dirty="0"/>
          </a:p>
        </p:txBody>
      </p:sp>
      <p:pic>
        <p:nvPicPr>
          <p:cNvPr id="12" name="Image 0" descr="preencoded.png">    </p:cNvPr>
          <p:cNvPicPr>
            <a:picLocks noChangeAspect="1"/>
          </p:cNvPicPr>
          <p:nvPr/>
        </p:nvPicPr>
        <p:blipFill>
          <a:blip r:embed="rId1"/>
          <a:srcRect l="0" r="0" t="0" b="0"/>
          <a:stretch/>
        </p:blipFill>
        <p:spPr>
          <a:xfrm>
            <a:off x="5852160" y="2743200"/>
            <a:ext cx="5760720" cy="3566160"/>
          </a:xfrm>
          <a:prstGeom prst="rect">
            <a:avLst/>
          </a:prstGeom>
          <a:effectLst>
            <a:outerShdw sx="100000" sy="100000" kx="0" ky="0" algn="bl" rotWithShape="0" blurRad="127000" dist="38100" dir="5400000">
              <a:srgbClr val="203030">
                <a:alpha val="2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Esto no lo da una ficha de papel</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Resuelven el acertijo juntos y la pantalla lo celebra con ellos.</a:t>
            </a:r>
            <a:endParaRPr lang="en-US" sz="2000" dirty="0"/>
          </a:p>
        </p:txBody>
      </p:sp>
      <p:sp>
        <p:nvSpPr>
          <p:cNvPr id="6" name="Text 4"/>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reto-win.png a pantalla casi completa (pantalla de reto resuelto). Emoción, poco texto. Deja respirar la imagen.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Si se cae el wifi, la sesión sigue</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Funciona offline, cumple RGPD y una tablet perdida se corta al instante.</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Offline, sincroniza al volver</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Datos pseudonimizados</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Se revoca desde el panel</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Tres pastillas con icono: nube tachada (offline), candado dorado (RGPD), tablet con botón revocar. Fondo limpio, sin foto.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BFA"/>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1F7A70"/>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12312E"/>
                </a:solidFill>
                <a:latin typeface="Century Gothic" pitchFamily="34" charset="0"/>
                <a:ea typeface="Century Gothic" pitchFamily="34" charset="-122"/>
                <a:cs typeface="Century Gothic" pitchFamily="34" charset="-120"/>
              </a:rPr>
              <a:t>La maestra recupera horas; la familia por fin ve datos</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Menos papeleo, cero corrección a mano y una evolución que se enseña.</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Lista en minutos</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Cero corrección manual</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Evidencia para la familia</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Tres cifras/iconos grandes tipo dashboard: reloj (minutos), tick (auto-corrección), gráfica (evolución). Estilo KPI, números enormes.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7A70"/>
        </a:solidFill>
      </p:bgPr>
    </p:bg>
    <p:spTree>
      <p:nvGrpSpPr>
        <p:cNvPr id="1" name=""/>
        <p:cNvGrpSpPr/>
        <p:nvPr/>
      </p:nvGrpSpPr>
      <p:grpSpPr>
        <a:xfrm>
          <a:off x="0" y="0"/>
          <a:ext cx="0" cy="0"/>
          <a:chOff x="0" y="0"/>
          <a:chExt cx="0" cy="0"/>
        </a:xfrm>
      </p:grpSpPr>
      <p:sp>
        <p:nvSpPr>
          <p:cNvPr id="2" name="Shape 0"/>
          <p:cNvSpPr/>
          <p:nvPr/>
        </p:nvSpPr>
        <p:spPr>
          <a:xfrm>
            <a:off x="10607040" y="-1005840"/>
            <a:ext cx="2926080" cy="2926080"/>
          </a:xfrm>
          <a:prstGeom prst="ellipse">
            <a:avLst/>
          </a:prstGeom>
          <a:solidFill>
            <a:srgbClr val="12A99B">
              <a:alpha val="12000"/>
            </a:srgbClr>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200" b="1" spc="300" kern="0" dirty="0">
                <a:solidFill>
                  <a:srgbClr val="E8F5F2"/>
                </a:solidFill>
              </a:rPr>
              <a:t>REMINIA</a:t>
            </a:r>
            <a:endParaRPr lang="en-US" sz="1200" dirty="0"/>
          </a:p>
        </p:txBody>
      </p:sp>
      <p:sp>
        <p:nvSpPr>
          <p:cNvPr id="4" name="Text 2"/>
          <p:cNvSpPr/>
          <p:nvPr/>
        </p:nvSpPr>
        <p:spPr>
          <a:xfrm>
            <a:off x="777240" y="868680"/>
            <a:ext cx="10607040" cy="914400"/>
          </a:xfrm>
          <a:prstGeom prst="rect">
            <a:avLst/>
          </a:prstGeom>
          <a:noFill/>
          <a:ln/>
        </p:spPr>
        <p:txBody>
          <a:bodyPr wrap="square" rtlCol="0" anchor="ctr"/>
          <a:lstStyle/>
          <a:p>
            <a:pPr indent="0" marL="0">
              <a:buNone/>
            </a:pPr>
            <a:r>
              <a:rPr lang="en-US" sz="3400" b="1" dirty="0">
                <a:solidFill>
                  <a:srgbClr val="FFFFFF"/>
                </a:solidFill>
                <a:latin typeface="Century Gothic" pitchFamily="34" charset="0"/>
                <a:ea typeface="Century Gothic" pitchFamily="34" charset="-122"/>
                <a:cs typeface="Century Gothic" pitchFamily="34" charset="-120"/>
              </a:rPr>
              <a:t>No os pido que decidáis hoy</a:t>
            </a:r>
            <a:endParaRPr lang="en-US" sz="3400" dirty="0"/>
          </a:p>
        </p:txBody>
      </p:sp>
      <p:sp>
        <p:nvSpPr>
          <p:cNvPr id="5" name="Text 3"/>
          <p:cNvSpPr/>
          <p:nvPr/>
        </p:nvSpPr>
        <p:spPr>
          <a:xfrm>
            <a:off x="822960" y="1828800"/>
            <a:ext cx="10424160" cy="822960"/>
          </a:xfrm>
          <a:prstGeom prst="rect">
            <a:avLst/>
          </a:prstGeom>
          <a:noFill/>
          <a:ln/>
        </p:spPr>
        <p:txBody>
          <a:bodyPr wrap="square" rtlCol="0" anchor="ctr"/>
          <a:lstStyle/>
          <a:p>
            <a:pPr indent="0" marL="0">
              <a:lnSpc>
                <a:spcPts val="2600"/>
              </a:lnSpc>
              <a:buNone/>
            </a:pPr>
            <a:r>
              <a:rPr lang="en-US" sz="2000" i="1" dirty="0">
                <a:solidFill>
                  <a:srgbClr val="4E635F"/>
                </a:solidFill>
              </a:rPr>
              <a:t>Empezamos con un piloto gratis en un centro y lo veis funcionando.</a:t>
            </a:r>
            <a:endParaRPr lang="en-US" sz="2000" dirty="0"/>
          </a:p>
        </p:txBody>
      </p:sp>
      <p:sp>
        <p:nvSpPr>
          <p:cNvPr id="6" name="Shape 4"/>
          <p:cNvSpPr/>
          <p:nvPr/>
        </p:nvSpPr>
        <p:spPr>
          <a:xfrm>
            <a:off x="883768" y="3108960"/>
            <a:ext cx="3230880" cy="2194560"/>
          </a:xfrm>
          <a:prstGeom prst="roundRect">
            <a:avLst>
              <a:gd name="adj" fmla="val 5000"/>
            </a:avLst>
          </a:prstGeom>
          <a:solidFill>
            <a:srgbClr val="E8F5F2"/>
          </a:solidFill>
          <a:ln w="12700">
            <a:solidFill>
              <a:srgbClr val="D2E6E2"/>
            </a:solidFill>
            <a:prstDash val="solid"/>
          </a:ln>
        </p:spPr>
      </p:sp>
      <p:sp>
        <p:nvSpPr>
          <p:cNvPr id="7" name="Text 5"/>
          <p:cNvSpPr/>
          <p:nvPr/>
        </p:nvSpPr>
        <p:spPr>
          <a:xfrm>
            <a:off x="1066648" y="3291840"/>
            <a:ext cx="2865120" cy="1828800"/>
          </a:xfrm>
          <a:prstGeom prst="rect">
            <a:avLst/>
          </a:prstGeom>
          <a:noFill/>
          <a:ln/>
        </p:spPr>
        <p:txBody>
          <a:bodyPr wrap="square" rtlCol="0" anchor="ctr"/>
          <a:lstStyle/>
          <a:p>
            <a:pPr algn="ctr" indent="0" marL="0">
              <a:buNone/>
            </a:pPr>
            <a:r>
              <a:rPr lang="en-US" sz="1800" b="1" dirty="0">
                <a:solidFill>
                  <a:srgbClr val="12312E"/>
                </a:solidFill>
              </a:rPr>
              <a:t>Desde 125€/mes por centro</a:t>
            </a:r>
            <a:endParaRPr lang="en-US" sz="1800" dirty="0"/>
          </a:p>
        </p:txBody>
      </p:sp>
      <p:sp>
        <p:nvSpPr>
          <p:cNvPr id="8" name="Shape 6"/>
          <p:cNvSpPr/>
          <p:nvPr/>
        </p:nvSpPr>
        <p:spPr>
          <a:xfrm>
            <a:off x="4480408" y="3108960"/>
            <a:ext cx="3230880" cy="2194560"/>
          </a:xfrm>
          <a:prstGeom prst="roundRect">
            <a:avLst>
              <a:gd name="adj" fmla="val 5000"/>
            </a:avLst>
          </a:prstGeom>
          <a:solidFill>
            <a:srgbClr val="E8F5F2"/>
          </a:solidFill>
          <a:ln w="12700">
            <a:solidFill>
              <a:srgbClr val="D2E6E2"/>
            </a:solidFill>
            <a:prstDash val="solid"/>
          </a:ln>
        </p:spPr>
      </p:sp>
      <p:sp>
        <p:nvSpPr>
          <p:cNvPr id="9" name="Text 7"/>
          <p:cNvSpPr/>
          <p:nvPr/>
        </p:nvSpPr>
        <p:spPr>
          <a:xfrm>
            <a:off x="4663288" y="3291840"/>
            <a:ext cx="2865120" cy="1828800"/>
          </a:xfrm>
          <a:prstGeom prst="rect">
            <a:avLst/>
          </a:prstGeom>
          <a:noFill/>
          <a:ln/>
        </p:spPr>
        <p:txBody>
          <a:bodyPr wrap="square" rtlCol="0" anchor="ctr"/>
          <a:lstStyle/>
          <a:p>
            <a:pPr algn="ctr" indent="0" marL="0">
              <a:buNone/>
            </a:pPr>
            <a:r>
              <a:rPr lang="en-US" sz="1800" b="1" dirty="0">
                <a:solidFill>
                  <a:srgbClr val="12312E"/>
                </a:solidFill>
              </a:rPr>
              <a:t>Equipo sin límite incluido</a:t>
            </a:r>
            <a:endParaRPr lang="en-US" sz="1800" dirty="0"/>
          </a:p>
        </p:txBody>
      </p:sp>
      <p:sp>
        <p:nvSpPr>
          <p:cNvPr id="10" name="Shape 8"/>
          <p:cNvSpPr/>
          <p:nvPr/>
        </p:nvSpPr>
        <p:spPr>
          <a:xfrm>
            <a:off x="8077048" y="3108960"/>
            <a:ext cx="3230880" cy="2194560"/>
          </a:xfrm>
          <a:prstGeom prst="roundRect">
            <a:avLst>
              <a:gd name="adj" fmla="val 5000"/>
            </a:avLst>
          </a:prstGeom>
          <a:solidFill>
            <a:srgbClr val="E8F5F2"/>
          </a:solidFill>
          <a:ln w="12700">
            <a:solidFill>
              <a:srgbClr val="D2E6E2"/>
            </a:solidFill>
            <a:prstDash val="solid"/>
          </a:ln>
        </p:spPr>
      </p:sp>
      <p:sp>
        <p:nvSpPr>
          <p:cNvPr id="11" name="Text 9"/>
          <p:cNvSpPr/>
          <p:nvPr/>
        </p:nvSpPr>
        <p:spPr>
          <a:xfrm>
            <a:off x="8259928" y="3291840"/>
            <a:ext cx="2865120" cy="1828800"/>
          </a:xfrm>
          <a:prstGeom prst="rect">
            <a:avLst/>
          </a:prstGeom>
          <a:noFill/>
          <a:ln/>
        </p:spPr>
        <p:txBody>
          <a:bodyPr wrap="square" rtlCol="0" anchor="ctr"/>
          <a:lstStyle/>
          <a:p>
            <a:pPr algn="ctr" indent="0" marL="0">
              <a:buNone/>
            </a:pPr>
            <a:r>
              <a:rPr lang="en-US" sz="1800" b="1" dirty="0">
                <a:solidFill>
                  <a:srgbClr val="12312E"/>
                </a:solidFill>
              </a:rPr>
              <a:t>Piloto gratis</a:t>
            </a:r>
            <a:endParaRPr lang="en-US" sz="1800" dirty="0"/>
          </a:p>
        </p:txBody>
      </p:sp>
      <p:sp>
        <p:nvSpPr>
          <p:cNvPr id="12" name="Text 10"/>
          <p:cNvSpPr/>
          <p:nvPr/>
        </p:nvSpPr>
        <p:spPr>
          <a:xfrm>
            <a:off x="822960" y="6309360"/>
            <a:ext cx="10424160" cy="365760"/>
          </a:xfrm>
          <a:prstGeom prst="rect">
            <a:avLst/>
          </a:prstGeom>
          <a:noFill/>
          <a:ln/>
        </p:spPr>
        <p:txBody>
          <a:bodyPr wrap="square" rtlCol="0" anchor="ctr"/>
          <a:lstStyle/>
          <a:p>
            <a:pPr indent="0" marL="0">
              <a:buNone/>
            </a:pPr>
            <a:r>
              <a:rPr lang="en-US" sz="1000" i="1" dirty="0">
                <a:solidFill>
                  <a:srgbClr val="D2E6E2"/>
                </a:solidFill>
              </a:rPr>
              <a:t>▸ Bloque de precio limpio y grande (10€ destacado, tramos abajo en pequeño) + botón CTA 'Empezar un piloto'. Logo Reminia. Datos de contacto.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2026-08-31T20:25:35Z</dcterms:created>
  <dcterms:modified xsi:type="dcterms:W3CDTF">2026-08-31T20:25:35Z</dcterms:modified>
</cp:coreProperties>
</file>